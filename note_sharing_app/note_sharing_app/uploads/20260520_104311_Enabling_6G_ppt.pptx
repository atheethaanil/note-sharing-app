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57" r:id="rId5"/>
    <p:sldId id="286" r:id="rId6"/>
    <p:sldId id="272" r:id="rId7"/>
    <p:sldId id="268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4" r:id="rId19"/>
    <p:sldId id="283" r:id="rId20"/>
    <p:sldId id="285" r:id="rId2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811D"/>
    <a:srgbClr val="394404"/>
    <a:srgbClr val="5F6F0F"/>
    <a:srgbClr val="718412"/>
    <a:srgbClr val="65741A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74" d="100"/>
          <a:sy n="74" d="100"/>
        </p:scale>
        <p:origin x="376" y="5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3/22/2026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3/22/2026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3/22/2026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3/22/2026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3/22/2026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3/22/2026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1000"/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7828" y="188640"/>
            <a:ext cx="11305256" cy="219672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latin typeface="Felix Titling (Headings)"/>
              </a:rPr>
              <a:t>ENABLING 6G AND BEYOND NETWORK FUNCTIONS FROM SPACE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33772" y="5535132"/>
            <a:ext cx="8136904" cy="12998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PRESENTED BY: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ATHEETHA ANIL KUMAR P p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1471E-3A94-2D0F-9EFE-0DBD825E0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748" y="2348880"/>
            <a:ext cx="4062942" cy="787152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Felix Titling" panose="04060505060202020A04" pitchFamily="82" charset="0"/>
              </a:rPr>
              <a:t>AGENDA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44521-7D6F-F62A-4546-43AC1EB3F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6100" y="990352"/>
            <a:ext cx="6094413" cy="4877295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from 4G to 6G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of 6G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NTN?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Satellite Types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Networks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Coverage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 and Resilience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in Space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Sensing and Communication</a:t>
            </a:r>
          </a:p>
          <a:p>
            <a:endParaRPr lang="en-IN" dirty="0">
              <a:solidFill>
                <a:schemeClr val="bg1"/>
              </a:solidFill>
              <a:latin typeface="Felix Titling (Headings)"/>
            </a:endParaRPr>
          </a:p>
          <a:p>
            <a:endParaRPr lang="en-IN" dirty="0">
              <a:solidFill>
                <a:schemeClr val="bg1"/>
              </a:solidFill>
              <a:latin typeface="Felix Titling (Headings)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  <a:latin typeface="Felix Titling (Headings)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8C32D5-6988-014E-E0D7-9CF6E9743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468" y="1337865"/>
            <a:ext cx="4003996" cy="26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06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3F4D4-3D67-3B0E-528A-5B667A737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1DE8A34-7F93-484F-D126-491C1F4F5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latin typeface="Felix Titling (Headings)"/>
              </a:rPr>
              <a:t>                </a:t>
            </a:r>
            <a:r>
              <a:rPr lang="en-US" sz="4800">
                <a:solidFill>
                  <a:schemeClr val="bg1"/>
                </a:solidFill>
                <a:latin typeface="Felix Titling (Headings)"/>
              </a:rPr>
              <a:t> Introduction</a:t>
            </a:r>
            <a:r>
              <a:rPr lang="en-US" sz="4800">
                <a:latin typeface="Felix Titling (Headings)"/>
              </a:rPr>
              <a:t> </a:t>
            </a:r>
            <a:r>
              <a:rPr lang="en-US"/>
              <a:t>with List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CB5CDC-5069-4F8C-9074-4328AC833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02" y="1556792"/>
            <a:ext cx="4678769" cy="3672408"/>
          </a:xfrm>
          <a:prstGeom prst="rect">
            <a:avLst/>
          </a:prstGeom>
        </p:spPr>
      </p:pic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5B3F0BCA-0070-166C-CF64-EF4C62FF7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4252" y="1601032"/>
            <a:ext cx="6048672" cy="446532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 has evolved rapidly over generations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5G improved speed and latency but depends on ground infrastructure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connectivity in remote, rural, and disaster areas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45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Felix Titling (Headings)"/>
              </a:rPr>
              <a:t>Evolution from 4G to 6G</a:t>
            </a:r>
            <a:endParaRPr lang="en-US" dirty="0">
              <a:solidFill>
                <a:schemeClr val="bg1"/>
              </a:solidFill>
              <a:latin typeface="Felix Titling (Headings)"/>
            </a:endParaRP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F5E4B288-A07A-F94D-3F4B-6B1EC8189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2118043"/>
            <a:ext cx="10360501" cy="446532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4G enabled high-speed internet and multimedia services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5G introduced IoT, low latency, and smart applications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6G aims for ultra-high speed, intelligence, and global connectivity</a:t>
            </a:r>
            <a:br>
              <a:rPr lang="en-IN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D85584-EB31-F665-C351-365852591E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084" y="3861048"/>
            <a:ext cx="4536504" cy="2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F2957-AAD5-E2F8-CC45-6279496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41BCA45-5893-FA57-3041-09BC08C9E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Felix Titling (Headings)"/>
              </a:rPr>
              <a:t>Vision of 6G</a:t>
            </a:r>
            <a:endParaRPr lang="en-US" dirty="0">
              <a:solidFill>
                <a:schemeClr val="bg1"/>
              </a:solidFill>
              <a:latin typeface="Felix Titling (Headings)"/>
            </a:endParaRP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649E5C9F-4EB6-95AD-1C4E-7D54AA583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1706880"/>
            <a:ext cx="10360501" cy="446532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rates in terabits per second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latency less than 1 millisecond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intelligent and self-optimizing networks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437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86E91-C4BB-B219-0924-E4D29FD53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815830D-7F43-35E1-FDA0-721DD4D1F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642195"/>
          </a:xfrm>
        </p:spPr>
        <p:txBody>
          <a:bodyPr anchor="b">
            <a:normAutofit/>
          </a:bodyPr>
          <a:lstStyle/>
          <a:p>
            <a:pPr algn="ctr"/>
            <a:br>
              <a:rPr lang="en-IN" dirty="0">
                <a:solidFill>
                  <a:schemeClr val="bg1"/>
                </a:solidFill>
                <a:latin typeface="Felix Titling (Headings)"/>
              </a:rPr>
            </a:br>
            <a:r>
              <a:rPr lang="en-IN" dirty="0">
                <a:solidFill>
                  <a:schemeClr val="bg1"/>
                </a:solidFill>
                <a:latin typeface="Felix Titling (Headings)"/>
              </a:rPr>
              <a:t>What is NTN?</a:t>
            </a:r>
            <a:br>
              <a:rPr lang="en-IN" dirty="0">
                <a:solidFill>
                  <a:schemeClr val="bg1"/>
                </a:solidFill>
                <a:latin typeface="Felix Titling (Headings)"/>
              </a:rPr>
            </a:br>
            <a:r>
              <a:rPr lang="en-US" dirty="0"/>
              <a:t>with List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A9C80E4-C7B4-D66C-EF41-D4FE8C5B5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1772816"/>
            <a:ext cx="6315689" cy="446532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Non-Terrestrial Networks include satellites, UAVs, and high-altitude platforms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 communication beyond Earth’s surface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Essential part of 6G architecture</a:t>
            </a:r>
            <a:br>
              <a:rPr lang="en-IN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1B3A9-29A6-E2DF-B672-56A1DC8E9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572" y="1772816"/>
            <a:ext cx="3957792" cy="272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29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5B983-AFF1-2E3F-122C-758670C80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8AE957B-4671-881B-9298-92456716F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82244" y="1700808"/>
            <a:ext cx="6387698" cy="3312368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LEO: Low latency, closer to Earth, suitable for real-time communication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MEO: Moderate latency and coverage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GEO: High altitude, wide coverage but higher delay</a:t>
            </a:r>
            <a:br>
              <a:rPr lang="en-IN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19CBE0-17BF-0B07-E7C4-4E76E0AEC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Felix Titling (Headings)"/>
                <a:cs typeface="Times New Roman" panose="02020603050405020304" pitchFamily="18" charset="0"/>
              </a:rPr>
              <a:t>: </a:t>
            </a:r>
            <a:r>
              <a:rPr lang="en-IN" dirty="0">
                <a:solidFill>
                  <a:schemeClr val="bg1"/>
                </a:solidFill>
                <a:latin typeface="Felix Titling (Headings)"/>
                <a:cs typeface="Times New Roman" panose="02020603050405020304" pitchFamily="18" charset="0"/>
              </a:rPr>
              <a:t>Satellite Types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BB4CE-FCBD-5FD2-6DF3-34456271B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883" y="1700808"/>
            <a:ext cx="3096344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38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F83DF-7CE9-6AFF-65D1-65295415D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7DDED42-FF08-AB70-1F34-B4970024A4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1916832"/>
            <a:ext cx="10360501" cy="446532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space, aerial, and terrestrial networks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Seamless communication across all environments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 global network architecture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7D3AB4-A188-23C5-CBAA-7CD89A9D7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332656"/>
            <a:ext cx="10360501" cy="1223963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Felix Titling (Headings)"/>
              </a:rPr>
              <a:t>Integration of Networks</a:t>
            </a:r>
            <a:endParaRPr lang="en-IN" dirty="0">
              <a:latin typeface="Felix Titling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870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1F6B6-6655-C4EC-2E98-B1D1F853B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28C3FADA-C191-2888-0D02-9A16BA150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1706880"/>
            <a:ext cx="10360501" cy="446532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in remote and underserved regions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maritime and aviation communication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worldwide IoT connectivity</a:t>
            </a:r>
            <a:br>
              <a:rPr lang="en-IN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A08AB3-BB28-4665-035C-7DBC1960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Felix Titling (Headings)"/>
                <a:cs typeface="Times New Roman" panose="02020603050405020304" pitchFamily="18" charset="0"/>
              </a:rPr>
              <a:t>Global Coverage</a:t>
            </a:r>
            <a:endParaRPr lang="en-IN" dirty="0">
              <a:latin typeface="Felix Titling (Headings)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B4902F-6503-B0B9-BDFF-7648271BD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388" y="3429000"/>
            <a:ext cx="3888432" cy="291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8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61D83-B985-C23F-BFB7-CDF440E8C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C90971F0-35A9-46C4-6DAB-BCC4C2B9E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9876" y="1771992"/>
            <a:ext cx="10360501" cy="446532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backup during network failures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of terrestrial infrastructure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disaster management and emergency services</a:t>
            </a:r>
            <a:br>
              <a:rPr lang="en-IN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170601-CBF8-F364-360A-4FCD806AB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875" y="188640"/>
            <a:ext cx="10360501" cy="1223963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Felix Titling (Headings)"/>
              </a:rPr>
              <a:t>Reliability and Resilience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46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3EDE9-4DAD-8107-B6F3-715289158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E8904A8B-8705-B996-442E-4E616E3E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1706880"/>
            <a:ext cx="10360501" cy="446532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directly on satellites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latency and bandwidth usage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decision making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122F2F-11F7-87DE-DF31-120E7BE4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Felix Titling (Headings)"/>
                <a:cs typeface="Times New Roman" panose="02020603050405020304" pitchFamily="18" charset="0"/>
              </a:rPr>
              <a:t>Edge Computing in Space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812F53-3CC0-FC53-B3D0-A6F5B0913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28" y="3339376"/>
            <a:ext cx="5043457" cy="28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1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B2069-40D8-7E35-4406-58132BEF4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26B8C79-2712-D70D-15B5-CD60B53AC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1706880"/>
            <a:ext cx="10360501" cy="446532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communication with sensing functions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environmental monitoring and navigation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and spectrum usage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A855D2-344B-54EF-144C-70E2C6319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20" y="274637"/>
            <a:ext cx="10801200" cy="1223963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Felix Titling (Headings)"/>
                <a:cs typeface="Times New Roman" panose="02020603050405020304" pitchFamily="18" charset="0"/>
              </a:rPr>
              <a:t>Integrated Sensing and Communication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F9BAD-D3A5-4A60-B8D3-54E97BDC0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281" y="3356992"/>
            <a:ext cx="4571975" cy="271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31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D1901-17E4-1A14-309F-0814F6C01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BBAA0908-64F2-3193-4BEA-314CD7CB6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1706880"/>
            <a:ext cx="10360501" cy="446532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 for intelligent network control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SDN and NFV for flexible and programmable networks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Inter-satellite links for direct satellite communication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461342-B124-FA8B-344A-62EFDA7E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: </a:t>
            </a:r>
            <a:r>
              <a:rPr lang="en-IN" dirty="0">
                <a:solidFill>
                  <a:schemeClr val="bg1"/>
                </a:solidFill>
                <a:latin typeface="Felix Titling (Headings)"/>
              </a:rPr>
              <a:t>Key Technologies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919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15CB4-B69C-A583-FD38-933D96937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08FC394F-DE13-1342-E305-5A9AB8040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1706880"/>
            <a:ext cx="10360501" cy="446532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internet access for all users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transportation systems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Disaster management and environmental monitoring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E5E5A3-D770-3901-7699-8B480DBC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Felix Titling (Headings)"/>
              </a:rPr>
              <a:t>Applications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5205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B6FF8-B39B-E333-72DC-FD5F920AF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DE5F38EE-EA8C-D30A-5BA1-8C685693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1706880"/>
            <a:ext cx="10360501" cy="446532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satellite deployment and maintenance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handover due to satellite movement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Spectrum management and security issues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7CF4B7-DEDB-A084-E6AC-455BDE5C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Felix Titling (Headings)"/>
              </a:rPr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2586192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1D96E-4746-F512-08BB-7EBC85AD5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B61C00-F8F0-E63E-FB87-F4BBA2B46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092" y="3501008"/>
            <a:ext cx="5112568" cy="3402181"/>
          </a:xfrm>
          <a:prstGeom prst="rect">
            <a:avLst/>
          </a:prstGeom>
        </p:spPr>
      </p:pic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2B43F26D-22F2-41AC-C686-06D220D78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1706880"/>
            <a:ext cx="10360501" cy="4465320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6G aims for global, intelligent connectivity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Space-based systems are essential for achieving this</a:t>
            </a:r>
          </a:p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Further research and development are required</a:t>
            </a:r>
            <a:b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9E95F0-8458-E822-1F4F-E125D9926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Felix Titling (Headings)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56641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D411-FE28-F8AF-2B5B-52A30C3B8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139D42-F177-FD30-255F-DE60CDB01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876" y="1844824"/>
            <a:ext cx="10360501" cy="2088232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Felix Titling" panose="04060505060202020A04" pitchFamily="82" charset="0"/>
              </a:rPr>
              <a:t>Thank You!    </a:t>
            </a:r>
            <a:br>
              <a:rPr lang="en-IN" dirty="0">
                <a:solidFill>
                  <a:schemeClr val="bg1"/>
                </a:solidFill>
                <a:latin typeface="Felix Titling" panose="04060505060202020A04" pitchFamily="82" charset="0"/>
              </a:rPr>
            </a:br>
            <a:br>
              <a:rPr lang="en-IN" dirty="0">
                <a:solidFill>
                  <a:schemeClr val="bg1"/>
                </a:solidFill>
                <a:latin typeface="Felix Titling" panose="04060505060202020A04" pitchFamily="82" charset="0"/>
              </a:rPr>
            </a:br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Any Questions?</a:t>
            </a:r>
            <a:endParaRPr lang="en-IN" dirty="0">
              <a:solidFill>
                <a:schemeClr val="bg1"/>
              </a:solidFill>
              <a:latin typeface="Felix Titling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297105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274</TotalTime>
  <Words>384</Words>
  <Application>Microsoft Office PowerPoint</Application>
  <PresentationFormat>Custom</PresentationFormat>
  <Paragraphs>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Arabic Typesetting</vt:lpstr>
      <vt:lpstr>Arial</vt:lpstr>
      <vt:lpstr>Calibri</vt:lpstr>
      <vt:lpstr>Felix Titling</vt:lpstr>
      <vt:lpstr>Felix Titling (Headings)</vt:lpstr>
      <vt:lpstr>Times New Roman</vt:lpstr>
      <vt:lpstr>Tech 16x9</vt:lpstr>
      <vt:lpstr>ENABLING 6G AND BEYOND NETWORK FUNCTIONS FROM SPACE</vt:lpstr>
      <vt:lpstr>AGENDA</vt:lpstr>
      <vt:lpstr>                 Introduction with List</vt:lpstr>
      <vt:lpstr>Evolution from 4G to 6G</vt:lpstr>
      <vt:lpstr>Vision of 6G</vt:lpstr>
      <vt:lpstr> What is NTN? with List</vt:lpstr>
      <vt:lpstr>: Satellite Types</vt:lpstr>
      <vt:lpstr>Integration of Networks</vt:lpstr>
      <vt:lpstr>Global Coverage</vt:lpstr>
      <vt:lpstr>Reliability and Resilience</vt:lpstr>
      <vt:lpstr>Edge Computing in Space</vt:lpstr>
      <vt:lpstr>Integrated Sensing and Communication</vt:lpstr>
      <vt:lpstr>: Key Technologies</vt:lpstr>
      <vt:lpstr>Applications</vt:lpstr>
      <vt:lpstr>Challenges</vt:lpstr>
      <vt:lpstr>Conclusion</vt:lpstr>
      <vt:lpstr>Thank You!     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Atheetha Anilkumar</dc:creator>
  <cp:lastModifiedBy>Atheetha Anilkumar</cp:lastModifiedBy>
  <cp:revision>15</cp:revision>
  <dcterms:created xsi:type="dcterms:W3CDTF">2026-03-21T14:52:59Z</dcterms:created>
  <dcterms:modified xsi:type="dcterms:W3CDTF">2026-03-22T09:03:49Z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